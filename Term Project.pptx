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94DCC7-D2D6-4E02-9337-24CA9440F485}">
  <a:tblStyle styleId="{0E94DCC7-D2D6-4E02-9337-24CA9440F4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cfff91d2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cfff91d2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113c7630f_2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113c7630f_2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d113c7630f_2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d113c7630f_2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ce4d736cc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ce4d736c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03e955f7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03e955f7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ce4d736cc4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ce4d736cc4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d113c7630f_2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d113c7630f_2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ce4d736cc4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ce4d736cc4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e4d736cc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ce4d736cc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ce4d736cc4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ce4d736cc4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ce4d736cc4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ce4d736cc4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d113c7630f_2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d113c7630f_2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d113c7630f_2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d113c7630f_2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Simulation Analysis of 4 Mutual Funds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Liam Kelz, David Worku, Congminh Tran, and Jacqueline Federigan 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824000" y="490850"/>
            <a:ext cx="33858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MATH / OR 442 - Spring 2024</a:t>
            </a:r>
            <a:endParaRPr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Dr. Chun-Hung Chen</a:t>
            </a:r>
            <a:endParaRPr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Simulation Works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-Takes as inputs the </a:t>
            </a:r>
            <a:r>
              <a:rPr lang="en" sz="1700"/>
              <a:t>investment into each of the funds, each fund then has 1000 simulations starting from the initial investment value going for 10 years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-The fund returns are totaled at 3 years and 10 years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-The average of all trials for 3 and 10 years is taken to obtain expected return, and the probability of a 25% gain and 25% loss is calculated as well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Analysis of Each Stock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Returns in the No Diversification Case</a:t>
            </a:r>
            <a:endParaRPr/>
          </a:p>
        </p:txBody>
      </p:sp>
      <p:graphicFrame>
        <p:nvGraphicFramePr>
          <p:cNvPr id="296" name="Google Shape;296;p16"/>
          <p:cNvGraphicFramePr/>
          <p:nvPr/>
        </p:nvGraphicFramePr>
        <p:xfrm>
          <a:off x="537625" y="153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621675"/>
                <a:gridCol w="1621675"/>
                <a:gridCol w="1621675"/>
                <a:gridCol w="1621675"/>
                <a:gridCol w="1621675"/>
              </a:tblGrid>
              <a:tr h="10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A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B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C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D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3 years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$1,315,965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$1,268,815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$1,259,663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$1,225,389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10 years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$2,527,704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$2,135,885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$2,156,133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$1,966,896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Chances of 25% gain and loss in 3 years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- No Diversification</a:t>
            </a:r>
            <a:endParaRPr/>
          </a:p>
        </p:txBody>
      </p:sp>
      <p:graphicFrame>
        <p:nvGraphicFramePr>
          <p:cNvPr id="302" name="Google Shape;302;p17"/>
          <p:cNvGraphicFramePr/>
          <p:nvPr/>
        </p:nvGraphicFramePr>
        <p:xfrm>
          <a:off x="420050" y="159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660775"/>
                <a:gridCol w="1660775"/>
                <a:gridCol w="1660775"/>
                <a:gridCol w="1660775"/>
                <a:gridCol w="1660775"/>
              </a:tblGrid>
              <a:tr h="9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Gain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0.47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0.515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0.55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0.015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Loss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0.198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0.000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0.000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0.000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" name="Google Shape;307;p18"/>
          <p:cNvGraphicFramePr/>
          <p:nvPr/>
        </p:nvGraphicFramePr>
        <p:xfrm>
          <a:off x="420050" y="159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660775"/>
                <a:gridCol w="1660775"/>
                <a:gridCol w="1660775"/>
                <a:gridCol w="1660775"/>
                <a:gridCol w="1660775"/>
              </a:tblGrid>
              <a:tr h="9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9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Gain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0.647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0.958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0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Loss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0.174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Chances of 25% gain and loss in 10 years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- No Diversification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Fund is “Best?”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400"/>
              <a:t>Each one will be </a:t>
            </a:r>
            <a:r>
              <a:rPr b="1" lang="en" sz="2400"/>
              <a:t>better</a:t>
            </a:r>
            <a:r>
              <a:rPr lang="en" sz="2400"/>
              <a:t> for </a:t>
            </a:r>
            <a:r>
              <a:rPr b="1" lang="en" sz="2400"/>
              <a:t>different</a:t>
            </a:r>
            <a:r>
              <a:rPr lang="en" sz="2400"/>
              <a:t> situations</a:t>
            </a:r>
            <a:endParaRPr sz="2400"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400"/>
              <a:t>A is the riskiest </a:t>
            </a:r>
            <a:r>
              <a:rPr lang="en" sz="2400"/>
              <a:t>stock</a:t>
            </a:r>
            <a:r>
              <a:rPr lang="en" sz="2400"/>
              <a:t>, </a:t>
            </a:r>
            <a:r>
              <a:rPr lang="en" sz="2400"/>
              <a:t>high</a:t>
            </a:r>
            <a:r>
              <a:rPr lang="en" sz="2400"/>
              <a:t> average return but a </a:t>
            </a:r>
            <a:r>
              <a:rPr lang="en" sz="2400"/>
              <a:t>significant</a:t>
            </a:r>
            <a:r>
              <a:rPr lang="en" sz="2400"/>
              <a:t> risk of losing 25% or more</a:t>
            </a:r>
            <a:endParaRPr sz="2400"/>
          </a:p>
          <a:p>
            <a:pPr indent="-3352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400"/>
              <a:t>A gets better in the long run</a:t>
            </a:r>
            <a:endParaRPr sz="2400"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400"/>
              <a:t>D is very safe, no chance of any loss, but low return</a:t>
            </a:r>
            <a:endParaRPr sz="2400"/>
          </a:p>
          <a:p>
            <a:pPr indent="-3352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400"/>
              <a:t>D is the best short-term option, because there is no risk of loss</a:t>
            </a:r>
            <a:endParaRPr sz="2400"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400"/>
              <a:t>B and C are in the middle, combination of moderate </a:t>
            </a:r>
            <a:r>
              <a:rPr lang="en" sz="2400"/>
              <a:t>risk and return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</a:t>
            </a:r>
            <a:r>
              <a:rPr lang="en"/>
              <a:t> Distribution of Investments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>
            <p:ph type="title"/>
          </p:nvPr>
        </p:nvSpPr>
        <p:spPr>
          <a:xfrm>
            <a:off x="1303800" y="598575"/>
            <a:ext cx="72084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Split </a:t>
            </a:r>
            <a:endParaRPr/>
          </a:p>
        </p:txBody>
      </p:sp>
      <p:graphicFrame>
        <p:nvGraphicFramePr>
          <p:cNvPr id="325" name="Google Shape;325;p21"/>
          <p:cNvGraphicFramePr/>
          <p:nvPr/>
        </p:nvGraphicFramePr>
        <p:xfrm>
          <a:off x="381250" y="135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676300"/>
                <a:gridCol w="1676300"/>
                <a:gridCol w="1676300"/>
                <a:gridCol w="1676300"/>
              </a:tblGrid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Average Return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Gain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Loss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$1,273,259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0.498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$2,247,240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6" name="Google Shape;326;p21"/>
          <p:cNvGraphicFramePr/>
          <p:nvPr/>
        </p:nvGraphicFramePr>
        <p:xfrm>
          <a:off x="7556800" y="13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275500"/>
              </a:tblGrid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Safer Option</a:t>
            </a:r>
            <a:endParaRPr/>
          </a:p>
        </p:txBody>
      </p:sp>
      <p:graphicFrame>
        <p:nvGraphicFramePr>
          <p:cNvPr id="332" name="Google Shape;332;p22"/>
          <p:cNvGraphicFramePr/>
          <p:nvPr/>
        </p:nvGraphicFramePr>
        <p:xfrm>
          <a:off x="381250" y="135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676300"/>
                <a:gridCol w="1676300"/>
                <a:gridCol w="1676300"/>
                <a:gridCol w="1676300"/>
              </a:tblGrid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Average Return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Gain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Loss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$1,256,211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0.491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$2,154,179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3" name="Google Shape;333;p22"/>
          <p:cNvGraphicFramePr/>
          <p:nvPr/>
        </p:nvGraphicFramePr>
        <p:xfrm>
          <a:off x="7556800" y="13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275500"/>
              </a:tblGrid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A: 15%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D: 35%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Riskier Option</a:t>
            </a:r>
            <a:endParaRPr/>
          </a:p>
        </p:txBody>
      </p:sp>
      <p:graphicFrame>
        <p:nvGraphicFramePr>
          <p:cNvPr id="339" name="Google Shape;339;p23"/>
          <p:cNvGraphicFramePr/>
          <p:nvPr/>
        </p:nvGraphicFramePr>
        <p:xfrm>
          <a:off x="381250" y="135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386675"/>
                <a:gridCol w="1706250"/>
                <a:gridCol w="1636350"/>
                <a:gridCol w="1975925"/>
              </a:tblGrid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Average Return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Gain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Loss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$1,289,562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0.492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$2,343,733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0.993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0" name="Google Shape;340;p23"/>
          <p:cNvGraphicFramePr/>
          <p:nvPr/>
        </p:nvGraphicFramePr>
        <p:xfrm>
          <a:off x="7556800" y="13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275500"/>
              </a:tblGrid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A: 35%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D: 15% 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</a:t>
            </a:r>
            <a:r>
              <a:rPr lang="en"/>
              <a:t>Recommendation</a:t>
            </a:r>
            <a:endParaRPr/>
          </a:p>
        </p:txBody>
      </p:sp>
      <p:graphicFrame>
        <p:nvGraphicFramePr>
          <p:cNvPr id="346" name="Google Shape;346;p24"/>
          <p:cNvGraphicFramePr/>
          <p:nvPr/>
        </p:nvGraphicFramePr>
        <p:xfrm>
          <a:off x="381250" y="135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386675"/>
                <a:gridCol w="1706250"/>
                <a:gridCol w="1636350"/>
                <a:gridCol w="1975925"/>
              </a:tblGrid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Average Return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Gain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Chance of 25% Loss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$1,281,774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0.502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10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 years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$2,254,697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0.000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7" name="Google Shape;347;p24"/>
          <p:cNvGraphicFramePr/>
          <p:nvPr/>
        </p:nvGraphicFramePr>
        <p:xfrm>
          <a:off x="7556800" y="13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{0E94DCC7-D2D6-4E02-9337-24CA9440F485}</a:tableStyleId>
              </a:tblPr>
              <a:tblGrid>
                <a:gridCol w="1275500"/>
              </a:tblGrid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A: 25%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B: 30%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C: 30%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D: 15%</a:t>
                      </a:r>
                      <a:endParaRPr sz="2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/>
          <p:nvPr/>
        </p:nvSpPr>
        <p:spPr>
          <a:xfrm>
            <a:off x="481200" y="436150"/>
            <a:ext cx="8181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even split case had a 100% chance of at least 25% ROI after 10 years, so allocating money from fund A to fund D would only lower returns in the long-run.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riskier option increases expected returns from the even split option, but there is a slight chance that 25% profit will not be obtained.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 instead of shifting from D to A, shift from D to B and C to ensure 25% profit and also an increase in expected returns.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 10-year end value of 2.2-2.3 million dollars can be expected if 25% profit is to be well-assured.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Additionally, 25% returns will keep up with a 2% year-over-year inflation rate, so real purchasing power will not be lost.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